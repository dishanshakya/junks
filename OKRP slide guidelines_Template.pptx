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13DADC-3B3A-4A79-B583-7AE6CACDFFD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970A4A-8F55-4CA0-842E-3F1E77764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79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0" y="457200"/>
            <a:ext cx="9144000" cy="1508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i="1" u="sng" dirty="0">
                <a:solidFill>
                  <a:schemeClr val="accent1"/>
                </a:solidFill>
                <a:latin typeface="Arial" charset="0"/>
                <a:cs typeface="Arial" charset="0"/>
              </a:rPr>
              <a:t>Office of KEC Research and Publications</a:t>
            </a:r>
          </a:p>
          <a:p>
            <a:pPr algn="ctr">
              <a:spcBef>
                <a:spcPct val="50000"/>
              </a:spcBef>
            </a:pPr>
            <a:r>
              <a:rPr lang="en-US" sz="2000" b="1" i="1" u="sng" dirty="0">
                <a:solidFill>
                  <a:schemeClr val="accent1"/>
                </a:solidFill>
                <a:latin typeface="Arial" charset="0"/>
                <a:cs typeface="Arial" charset="0"/>
              </a:rPr>
              <a:t>OKRP  Conference 2025</a:t>
            </a:r>
          </a:p>
          <a:p>
            <a:pPr algn="ctr">
              <a:spcBef>
                <a:spcPct val="50000"/>
              </a:spcBef>
            </a:pPr>
            <a:r>
              <a:rPr lang="en-US" sz="1400" b="1" i="1" dirty="0">
                <a:solidFill>
                  <a:schemeClr val="accent1"/>
                </a:solidFill>
                <a:latin typeface="Arial" charset="0"/>
                <a:cs typeface="Arial" charset="0"/>
              </a:rPr>
              <a:t>13</a:t>
            </a:r>
            <a:r>
              <a:rPr lang="en-US" sz="1400" b="1" i="1" baseline="30000" dirty="0">
                <a:solidFill>
                  <a:schemeClr val="accent1"/>
                </a:solidFill>
                <a:latin typeface="Arial" charset="0"/>
                <a:cs typeface="Arial" charset="0"/>
              </a:rPr>
              <a:t>th  </a:t>
            </a:r>
            <a:r>
              <a:rPr lang="en-US" sz="1400" b="1" i="1" dirty="0">
                <a:solidFill>
                  <a:schemeClr val="accent1"/>
                </a:solidFill>
                <a:latin typeface="Arial" charset="0"/>
                <a:cs typeface="Arial" charset="0"/>
              </a:rPr>
              <a:t>December, 2025 </a:t>
            </a:r>
          </a:p>
          <a:p>
            <a:pPr algn="ctr">
              <a:spcBef>
                <a:spcPct val="50000"/>
              </a:spcBef>
            </a:pPr>
            <a:r>
              <a:rPr lang="en-US" sz="1400" b="1" i="1" dirty="0">
                <a:solidFill>
                  <a:schemeClr val="accent1"/>
                </a:solidFill>
                <a:latin typeface="Arial" charset="0"/>
                <a:cs typeface="Arial" charset="0"/>
              </a:rPr>
              <a:t>@ Kathmandu Engineering College, </a:t>
            </a:r>
            <a:r>
              <a:rPr lang="en-US" sz="1400" b="1" i="1" dirty="0" err="1">
                <a:solidFill>
                  <a:schemeClr val="accent1"/>
                </a:solidFill>
                <a:latin typeface="Arial" charset="0"/>
                <a:cs typeface="Arial" charset="0"/>
              </a:rPr>
              <a:t>Kalimati</a:t>
            </a:r>
            <a:r>
              <a:rPr lang="en-US" sz="1400" b="1" i="1" dirty="0">
                <a:solidFill>
                  <a:schemeClr val="accent1"/>
                </a:solidFill>
                <a:latin typeface="Arial" charset="0"/>
                <a:cs typeface="Arial" charset="0"/>
              </a:rPr>
              <a:t>, Kathmandu, Nepal</a:t>
            </a:r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0" y="3200400"/>
            <a:ext cx="914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5400" b="1" u="sng" dirty="0">
                <a:solidFill>
                  <a:schemeClr val="accent1"/>
                </a:solidFill>
              </a:rPr>
              <a:t>TECHNICAL</a:t>
            </a:r>
          </a:p>
          <a:p>
            <a:pPr algn="ctr"/>
            <a:r>
              <a:rPr lang="en-US" sz="5400" b="1" u="sng" dirty="0">
                <a:solidFill>
                  <a:srgbClr val="40CAE6"/>
                </a:solidFill>
              </a:rPr>
              <a:t>PAPER PRESENTATION</a:t>
            </a:r>
          </a:p>
          <a:p>
            <a:pPr algn="ctr"/>
            <a:r>
              <a:rPr lang="en-US" sz="3600" b="1" dirty="0"/>
              <a:t>(in Microsoft PowerPoint)</a:t>
            </a:r>
            <a:endParaRPr lang="en-US" sz="3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0" y="228600"/>
            <a:ext cx="9144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4000" b="1" u="sng" dirty="0"/>
              <a:t>Time-Limits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28600" y="1447800"/>
            <a:ext cx="86868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00CC00"/>
              </a:buClr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u="sng" dirty="0"/>
              <a:t>Time-Limits:</a:t>
            </a:r>
          </a:p>
          <a:p>
            <a:pPr lvl="1">
              <a:buClr>
                <a:srgbClr val="00CC00"/>
              </a:buClr>
              <a:buFont typeface="Wingdings" pitchFamily="2" charset="2"/>
              <a:buChar char="§"/>
            </a:pPr>
            <a:r>
              <a:rPr lang="en-US" sz="2400" b="1" dirty="0"/>
              <a:t> Oral Presentation </a:t>
            </a:r>
            <a:r>
              <a:rPr lang="en-US" sz="2000" b="1" dirty="0"/>
              <a:t>(with PowerPoint):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10-15 </a:t>
            </a:r>
            <a:r>
              <a:rPr lang="en-US" sz="2400" b="1" dirty="0"/>
              <a:t>minutes maximum</a:t>
            </a:r>
          </a:p>
          <a:p>
            <a:pPr lvl="1">
              <a:buClr>
                <a:srgbClr val="00CC00"/>
              </a:buClr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b="1" dirty="0"/>
              <a:t>Question &amp; Answer session by Judges and </a:t>
            </a:r>
            <a:r>
              <a:rPr lang="en-US" sz="2400" b="1" dirty="0" err="1"/>
              <a:t>Audiencs</a:t>
            </a:r>
            <a:r>
              <a:rPr lang="en-US" sz="2400" b="1" dirty="0"/>
              <a:t>: </a:t>
            </a:r>
            <a:r>
              <a:rPr lang="en-US" sz="2400" b="1" dirty="0">
                <a:solidFill>
                  <a:srgbClr val="FF0000"/>
                </a:solidFill>
              </a:rPr>
              <a:t>5</a:t>
            </a:r>
            <a:r>
              <a:rPr lang="en-US" sz="2400" b="1" dirty="0"/>
              <a:t> minutes</a:t>
            </a:r>
          </a:p>
          <a:p>
            <a:pPr lvl="1">
              <a:buClr>
                <a:srgbClr val="00CC00"/>
              </a:buClr>
              <a:buFont typeface="Wingdings" pitchFamily="2" charset="2"/>
              <a:buNone/>
            </a:pPr>
            <a:endParaRPr lang="en-US" sz="2400" b="1" dirty="0"/>
          </a:p>
          <a:p>
            <a:pPr>
              <a:buClr>
                <a:srgbClr val="00CC00"/>
              </a:buClr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b="1" dirty="0"/>
              <a:t>TIME LIMIT SHOULD BE STRICTLY FOLLOWED</a:t>
            </a:r>
            <a:r>
              <a:rPr lang="en-US" sz="2400" dirty="0"/>
              <a:t>; </a:t>
            </a:r>
          </a:p>
          <a:p>
            <a:pPr>
              <a:buClr>
                <a:srgbClr val="00CC00"/>
              </a:buClr>
              <a:buFont typeface="Wingdings" pitchFamily="2" charset="2"/>
              <a:buChar char="§"/>
            </a:pPr>
            <a:endParaRPr lang="en-US" sz="2400" dirty="0"/>
          </a:p>
          <a:p>
            <a:pPr>
              <a:buClr>
                <a:srgbClr val="00CC00"/>
              </a:buClr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Only one author may choose to speak.</a:t>
            </a:r>
            <a:endParaRPr lang="en-US" sz="2400" dirty="0">
              <a:solidFill>
                <a:srgbClr val="FF0000"/>
              </a:solidFill>
            </a:endParaRPr>
          </a:p>
          <a:p>
            <a:pPr>
              <a:buClr>
                <a:srgbClr val="00CC00"/>
              </a:buClr>
              <a:buFont typeface="Wingdings" pitchFamily="2" charset="2"/>
              <a:buChar char="§"/>
            </a:pPr>
            <a:endParaRPr lang="en-US" sz="2400" dirty="0"/>
          </a:p>
          <a:p>
            <a:pPr>
              <a:buClr>
                <a:srgbClr val="00CC00"/>
              </a:buClr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b="1" dirty="0"/>
              <a:t>Animations &amp; Videos </a:t>
            </a:r>
            <a:r>
              <a:rPr lang="en-US" sz="2400" dirty="0"/>
              <a:t>(if any) may be included, but they should be played within the same allotted time limit of </a:t>
            </a:r>
            <a:r>
              <a:rPr lang="en-US" sz="2400" dirty="0">
                <a:solidFill>
                  <a:srgbClr val="FF0000"/>
                </a:solidFill>
              </a:rPr>
              <a:t>15 </a:t>
            </a:r>
            <a:r>
              <a:rPr lang="en-US" sz="2400" dirty="0"/>
              <a:t>minutes.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676400"/>
            <a:ext cx="8503920" cy="4572000"/>
          </a:xfrm>
        </p:spPr>
        <p:txBody>
          <a:bodyPr>
            <a:normAutofit/>
          </a:bodyPr>
          <a:lstStyle/>
          <a:p>
            <a:pPr>
              <a:buClr>
                <a:srgbClr val="FA8C28"/>
              </a:buClr>
              <a:buFont typeface="Wingdings" pitchFamily="2" charset="2"/>
              <a:buChar char="§"/>
            </a:pPr>
            <a:r>
              <a:rPr lang="en-US" sz="2800" dirty="0"/>
              <a:t>Presentation should be done on-stage.</a:t>
            </a:r>
          </a:p>
          <a:p>
            <a:pPr>
              <a:buClr>
                <a:srgbClr val="FA8C28"/>
              </a:buClr>
              <a:buFont typeface="Wingdings" pitchFamily="2" charset="2"/>
              <a:buChar char="§"/>
            </a:pPr>
            <a:r>
              <a:rPr lang="en-US" sz="2800" dirty="0"/>
              <a:t> Format: Windows PowerPoint </a:t>
            </a:r>
            <a:r>
              <a:rPr lang="en-US" sz="2800" b="1" dirty="0"/>
              <a:t>(.</a:t>
            </a:r>
            <a:r>
              <a:rPr lang="en-US" sz="2800" b="1" dirty="0" err="1"/>
              <a:t>ppt</a:t>
            </a:r>
            <a:r>
              <a:rPr lang="en-US" sz="2800" b="1" dirty="0"/>
              <a:t>) </a:t>
            </a:r>
          </a:p>
          <a:p>
            <a:pPr>
              <a:buClr>
                <a:srgbClr val="FA8C28"/>
              </a:buClr>
              <a:buFont typeface="Wingdings" pitchFamily="2" charset="2"/>
              <a:buChar char="§"/>
            </a:pPr>
            <a:r>
              <a:rPr lang="en-US" sz="2800" dirty="0"/>
              <a:t> All audio-visual equipment will be provided: computer, microphones, speaker system, digital projection system etc.</a:t>
            </a:r>
          </a:p>
          <a:p>
            <a:pPr>
              <a:buClr>
                <a:srgbClr val="FA8C28"/>
              </a:buClr>
              <a:buFont typeface="Wingdings" pitchFamily="2" charset="2"/>
              <a:buChar char="§"/>
            </a:pPr>
            <a:r>
              <a:rPr lang="en-US" sz="2800" dirty="0"/>
              <a:t> In case of a technical problem with the computer, the presentation may be given from an backup laptop. </a:t>
            </a:r>
          </a:p>
        </p:txBody>
      </p:sp>
      <p:sp>
        <p:nvSpPr>
          <p:cNvPr id="6" name="Text Box 6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01752" y="228600"/>
            <a:ext cx="85344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4000" b="1" u="sng" dirty="0">
                <a:solidFill>
                  <a:schemeClr val="tx1"/>
                </a:solidFill>
              </a:rPr>
              <a:t>Guidelines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2895600"/>
            <a:ext cx="9296400" cy="1143000"/>
          </a:xfrm>
          <a:prstGeom prst="rect">
            <a:avLst/>
          </a:prstGeom>
        </p:spPr>
        <p:txBody>
          <a:bodyPr vert="horz" anchor="b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alatino Linotype" pitchFamily="18" charset="0"/>
                <a:ea typeface="+mj-ea"/>
                <a:cs typeface="+mj-cs"/>
              </a:rPr>
              <a:t>Some Tips on</a:t>
            </a:r>
            <a:br>
              <a:rPr kumimoji="0" lang="en-US" sz="48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alatino Linotype" pitchFamily="18" charset="0"/>
                <a:ea typeface="+mj-ea"/>
                <a:cs typeface="+mj-cs"/>
              </a:rPr>
            </a:br>
            <a:r>
              <a:rPr kumimoji="0" lang="en-US" sz="48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alatino Linotype" pitchFamily="18" charset="0"/>
                <a:ea typeface="+mj-ea"/>
                <a:cs typeface="+mj-cs"/>
              </a:rPr>
              <a:t>Technical Paper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 dirty="0">
                <a:solidFill>
                  <a:schemeClr val="tx1"/>
                </a:solidFill>
              </a:rPr>
              <a:t>Text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Clr>
                <a:schemeClr val="folHlink"/>
              </a:buClr>
              <a:buFontTx/>
              <a:buChar char="•"/>
            </a:pPr>
            <a:r>
              <a:rPr lang="en-US" sz="2400" b="1" dirty="0"/>
              <a:t> The text should be brief as possible.</a:t>
            </a:r>
          </a:p>
          <a:p>
            <a:pPr>
              <a:buClr>
                <a:schemeClr val="folHlink"/>
              </a:buClr>
              <a:buFontTx/>
              <a:buChar char="•"/>
            </a:pPr>
            <a:endParaRPr lang="en-US" sz="2400" b="1" dirty="0"/>
          </a:p>
          <a:p>
            <a:pPr>
              <a:buClr>
                <a:schemeClr val="folHlink"/>
              </a:buClr>
              <a:buFontTx/>
              <a:buChar char="•"/>
            </a:pPr>
            <a:r>
              <a:rPr lang="en-US" sz="2400" b="1" dirty="0"/>
              <a:t> Data should be given in POINTS.</a:t>
            </a:r>
          </a:p>
          <a:p>
            <a:pPr>
              <a:buClr>
                <a:schemeClr val="folHlink"/>
              </a:buClr>
              <a:buFontTx/>
              <a:buChar char="•"/>
            </a:pPr>
            <a:endParaRPr lang="en-US" sz="2400" b="1" dirty="0"/>
          </a:p>
          <a:p>
            <a:pPr>
              <a:buClr>
                <a:schemeClr val="folHlink"/>
              </a:buClr>
              <a:buFontTx/>
              <a:buChar char="•"/>
            </a:pPr>
            <a:r>
              <a:rPr lang="en-US" sz="2400" b="1" dirty="0"/>
              <a:t> No more than 10 lines of text (or points) per slide.</a:t>
            </a:r>
          </a:p>
          <a:p>
            <a:pPr>
              <a:buClr>
                <a:schemeClr val="folHlink"/>
              </a:buClr>
              <a:buFontTx/>
              <a:buChar char="•"/>
            </a:pPr>
            <a:endParaRPr lang="en-US" sz="2400" b="1" dirty="0"/>
          </a:p>
          <a:p>
            <a:pPr>
              <a:buClr>
                <a:schemeClr val="folHlink"/>
              </a:buClr>
              <a:buFontTx/>
              <a:buChar char="•"/>
            </a:pPr>
            <a:r>
              <a:rPr lang="en-US" sz="2400" b="1" dirty="0"/>
              <a:t> All letters on the slide should be big enough to make it readable even at the back of the auditorium.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 dirty="0">
                <a:solidFill>
                  <a:schemeClr val="tx1"/>
                </a:solidFill>
              </a:rPr>
              <a:t>Slide Background &amp; Readability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dirty="0"/>
              <a:t>Choose an attractive picture (related to your topic, of course) as the background for your TITLE slide.(Optional)</a:t>
            </a:r>
          </a:p>
          <a:p>
            <a:endParaRPr lang="en-US" sz="2800" dirty="0"/>
          </a:p>
          <a:p>
            <a:r>
              <a:rPr lang="en-US" sz="2800" dirty="0"/>
              <a:t>For the other following slides, background and text should be in contrasting colors.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3600" b="1" u="sng" dirty="0">
                <a:solidFill>
                  <a:schemeClr val="tx1"/>
                </a:solidFill>
              </a:rPr>
              <a:t>Graphs &amp; Figures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600200"/>
            <a:ext cx="8503920" cy="4572000"/>
          </a:xfrm>
        </p:spPr>
        <p:txBody>
          <a:bodyPr>
            <a:normAutofit/>
          </a:bodyPr>
          <a:lstStyle/>
          <a:p>
            <a:pPr>
              <a:buClr>
                <a:srgbClr val="FFFF00"/>
              </a:buClr>
              <a:buFont typeface="Wingdings" pitchFamily="2" charset="2"/>
              <a:buChar char="v"/>
            </a:pPr>
            <a:r>
              <a:rPr lang="en-US" sz="2800" b="1" dirty="0"/>
              <a:t>graph or figure should be well-documented and can be used instead of lengthy text.</a:t>
            </a:r>
          </a:p>
          <a:p>
            <a:pPr>
              <a:buClr>
                <a:srgbClr val="FFFF00"/>
              </a:buClr>
              <a:buFont typeface="Wingdings" pitchFamily="2" charset="2"/>
              <a:buNone/>
            </a:pPr>
            <a:endParaRPr lang="en-US" sz="2800" b="1" dirty="0"/>
          </a:p>
          <a:p>
            <a:pPr>
              <a:buClr>
                <a:srgbClr val="FFFF00"/>
              </a:buClr>
              <a:buFont typeface="Wingdings" pitchFamily="2" charset="2"/>
              <a:buChar char="v"/>
            </a:pPr>
            <a:r>
              <a:rPr lang="en-US" sz="2800" b="1" dirty="0"/>
              <a:t> Graphical representation of data are preferred over  tables.</a:t>
            </a:r>
          </a:p>
          <a:p>
            <a:pPr>
              <a:buClr>
                <a:srgbClr val="FFFF00"/>
              </a:buClr>
              <a:buFont typeface="Wingdings" pitchFamily="2" charset="2"/>
              <a:buChar char="v"/>
            </a:pPr>
            <a:endParaRPr lang="en-US" sz="2800" b="1" dirty="0"/>
          </a:p>
          <a:p>
            <a:pPr>
              <a:buClr>
                <a:srgbClr val="FFFF00"/>
              </a:buClr>
              <a:buFont typeface="Wingdings" pitchFamily="2" charset="2"/>
              <a:buChar char="v"/>
            </a:pPr>
            <a:r>
              <a:rPr lang="en-US" sz="2800" b="1" dirty="0"/>
              <a:t> A photograph often is worth a thousand words.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2895600"/>
            <a:ext cx="9296400" cy="1143000"/>
          </a:xfrm>
          <a:prstGeom prst="rect">
            <a:avLst/>
          </a:prstGeom>
        </p:spPr>
        <p:txBody>
          <a:bodyPr vert="horz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alatino Linotype" pitchFamily="18" charset="0"/>
                <a:ea typeface="+mj-ea"/>
                <a:cs typeface="+mj-cs"/>
              </a:rPr>
              <a:t>A Sample</a:t>
            </a:r>
            <a:br>
              <a:rPr kumimoji="0" lang="en-US" sz="40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alatino Linotype" pitchFamily="18" charset="0"/>
                <a:ea typeface="+mj-ea"/>
                <a:cs typeface="+mj-cs"/>
              </a:rPr>
            </a:br>
            <a:r>
              <a:rPr kumimoji="0" lang="en-US" sz="40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alatino Linotype" pitchFamily="18" charset="0"/>
                <a:ea typeface="+mj-ea"/>
                <a:cs typeface="+mj-cs"/>
              </a:rPr>
              <a:t>Technical Paper Presentation</a:t>
            </a:r>
            <a:br>
              <a:rPr kumimoji="0" lang="en-US" sz="40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alatino Linotype" pitchFamily="18" charset="0"/>
                <a:ea typeface="+mj-ea"/>
                <a:cs typeface="+mj-cs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alatino Linotype" pitchFamily="18" charset="0"/>
                <a:ea typeface="+mj-ea"/>
                <a:cs typeface="+mj-cs"/>
              </a:rPr>
              <a:t>(1</a:t>
            </a:r>
            <a:r>
              <a:rPr lang="en-US" sz="4000" b="1" dirty="0">
                <a:latin typeface="Palatino Linotype" pitchFamily="18" charset="0"/>
                <a:ea typeface="+mj-ea"/>
                <a:cs typeface="+mj-cs"/>
              </a:rPr>
              <a:t>0 to15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alatino Linotype" pitchFamily="18" charset="0"/>
                <a:ea typeface="+mj-ea"/>
                <a:cs typeface="+mj-cs"/>
              </a:rPr>
              <a:t> minutes duration)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alatino Linotype" pitchFamily="18" charset="0"/>
                <a:ea typeface="+mj-ea"/>
                <a:cs typeface="+mj-cs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alatino Linotype" pitchFamily="18" charset="0"/>
                <a:ea typeface="+mj-ea"/>
                <a:cs typeface="+mj-cs"/>
              </a:rPr>
              <a:t>(15 slides)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 dirty="0">
                <a:solidFill>
                  <a:schemeClr val="tx1"/>
                </a:solidFill>
              </a:rPr>
              <a:t>1.  Title Slide (1 slide)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0" y="1828800"/>
            <a:ext cx="9144000" cy="1189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7200" b="1" u="sng" dirty="0"/>
              <a:t>PAPER TITLE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4288" y="3048000"/>
            <a:ext cx="9144000" cy="82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800" b="1" u="sng" dirty="0"/>
              <a:t>Authors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0" y="3930650"/>
            <a:ext cx="9144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u="sng" dirty="0"/>
              <a:t>Institution and/or Address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916" y="5028193"/>
            <a:ext cx="798716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OKRP &amp; KEC Logo must be present on each slides (sample of the footer is as follows)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6161494"/>
            <a:ext cx="914400" cy="544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4"/>
          <p:cNvSpPr txBox="1">
            <a:spLocks noChangeArrowheads="1"/>
          </p:cNvSpPr>
          <p:nvPr/>
        </p:nvSpPr>
        <p:spPr bwMode="auto">
          <a:xfrm>
            <a:off x="2667000" y="6397823"/>
            <a:ext cx="41910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OKRP Conference 2025 </a:t>
            </a:r>
            <a:r>
              <a:rPr lang="en-US" sz="1400" i="1" dirty="0"/>
              <a:t>(13</a:t>
            </a:r>
            <a:r>
              <a:rPr lang="en-US" sz="1400" i="1" baseline="30000" dirty="0"/>
              <a:t>th</a:t>
            </a:r>
            <a:r>
              <a:rPr lang="en-US" sz="1400" i="1" dirty="0"/>
              <a:t> December 2025)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9BBAD5-8BC4-EBE4-7395-0AA837F710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920" y="5994012"/>
            <a:ext cx="682752" cy="6827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 dirty="0">
                <a:solidFill>
                  <a:schemeClr val="tx1"/>
                </a:solidFill>
              </a:rPr>
              <a:t>2.  Introduction (1 slide)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676400"/>
            <a:ext cx="8503920" cy="4572000"/>
          </a:xfrm>
        </p:spPr>
        <p:txBody>
          <a:bodyPr>
            <a:normAutofit lnSpcReduction="10000"/>
          </a:bodyPr>
          <a:lstStyle/>
          <a:p>
            <a:pPr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2800" dirty="0"/>
              <a:t>Introduce your topic &amp; paper title.</a:t>
            </a:r>
          </a:p>
          <a:p>
            <a:pPr>
              <a:buClr>
                <a:schemeClr val="folHlink"/>
              </a:buClr>
              <a:buFont typeface="Wingdings" pitchFamily="2" charset="2"/>
              <a:buChar char="§"/>
            </a:pPr>
            <a:endParaRPr lang="en-US" sz="2800" dirty="0"/>
          </a:p>
          <a:p>
            <a:pPr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2800" dirty="0"/>
              <a:t> Be as brief as possible.</a:t>
            </a:r>
          </a:p>
          <a:p>
            <a:pPr>
              <a:buClr>
                <a:schemeClr val="folHlink"/>
              </a:buClr>
              <a:buFont typeface="Wingdings" pitchFamily="2" charset="2"/>
              <a:buChar char="§"/>
            </a:pPr>
            <a:endParaRPr lang="en-US" sz="2800" dirty="0"/>
          </a:p>
          <a:p>
            <a:pPr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2800" dirty="0"/>
              <a:t> Use only relevant data.</a:t>
            </a:r>
          </a:p>
          <a:p>
            <a:pPr>
              <a:buClr>
                <a:schemeClr val="folHlink"/>
              </a:buClr>
              <a:buFont typeface="Wingdings" pitchFamily="2" charset="2"/>
              <a:buChar char="§"/>
            </a:pPr>
            <a:endParaRPr lang="en-US" sz="2800" dirty="0"/>
          </a:p>
          <a:p>
            <a:pPr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2800" dirty="0"/>
              <a:t> Use short but meaningful points.</a:t>
            </a:r>
          </a:p>
          <a:p>
            <a:pPr>
              <a:buClr>
                <a:schemeClr val="folHlink"/>
              </a:buClr>
              <a:buFont typeface="Wingdings" pitchFamily="2" charset="2"/>
              <a:buChar char="§"/>
            </a:pPr>
            <a:endParaRPr lang="en-US" sz="2800" dirty="0"/>
          </a:p>
          <a:p>
            <a:pPr>
              <a:buClr>
                <a:schemeClr val="folHlink"/>
              </a:buClr>
              <a:buFont typeface="Wingdings" pitchFamily="2" charset="2"/>
              <a:buChar char="§"/>
            </a:pPr>
            <a:r>
              <a:rPr lang="en-US" sz="2800" dirty="0"/>
              <a:t> Explain every point briefly.</a:t>
            </a:r>
            <a:endParaRPr lang="en-US" sz="2800" b="1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6161494"/>
            <a:ext cx="914400" cy="544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04D38E-9292-8FC7-F7CF-7926ABC82E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920" y="5994012"/>
            <a:ext cx="682752" cy="682752"/>
          </a:xfrm>
          <a:prstGeom prst="rect">
            <a:avLst/>
          </a:prstGeom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E8F21B18-001B-2E32-F855-EA513489D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6397823"/>
            <a:ext cx="41910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OKRP Conference 2025 </a:t>
            </a:r>
            <a:r>
              <a:rPr lang="en-US" sz="1400" i="1" dirty="0"/>
              <a:t>(13</a:t>
            </a:r>
            <a:r>
              <a:rPr lang="en-US" sz="1400" i="1" baseline="30000" dirty="0"/>
              <a:t>th</a:t>
            </a:r>
            <a:r>
              <a:rPr lang="en-US" sz="1400" i="1" dirty="0"/>
              <a:t> December 2025)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u="sng" dirty="0">
                <a:solidFill>
                  <a:schemeClr val="tx1"/>
                </a:solidFill>
              </a:rPr>
              <a:t>3-5.  Problem &amp; Theories (1-3 slides)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rgbClr val="00CC00"/>
              </a:buClr>
              <a:buFont typeface="Wingdings" pitchFamily="2" charset="2"/>
              <a:buChar char="§"/>
            </a:pPr>
            <a:r>
              <a:rPr lang="en-US" sz="2800" dirty="0"/>
              <a:t> State the problem you’re addressing &amp; the scientific theories associated with it briefly on one or two slides.</a:t>
            </a:r>
          </a:p>
          <a:p>
            <a:pPr>
              <a:buClr>
                <a:srgbClr val="00CC00"/>
              </a:buClr>
              <a:buFont typeface="Wingdings" pitchFamily="2" charset="2"/>
              <a:buChar char="§"/>
            </a:pPr>
            <a:r>
              <a:rPr lang="en-US" sz="2800" dirty="0"/>
              <a:t> Use examples.</a:t>
            </a:r>
          </a:p>
          <a:p>
            <a:pPr>
              <a:buClr>
                <a:srgbClr val="00CC00"/>
              </a:buClr>
              <a:buFont typeface="Wingdings" pitchFamily="2" charset="2"/>
              <a:buChar char="§"/>
            </a:pPr>
            <a:r>
              <a:rPr lang="en-US" sz="2800" dirty="0"/>
              <a:t> A picture (on another slide, if necessary) will be handy.</a:t>
            </a:r>
          </a:p>
          <a:p>
            <a:pPr>
              <a:buClr>
                <a:srgbClr val="00CC00"/>
              </a:buClr>
              <a:buFont typeface="Wingdings" pitchFamily="2" charset="2"/>
              <a:buChar char="§"/>
            </a:pPr>
            <a:r>
              <a:rPr lang="en-US" sz="2800" dirty="0"/>
              <a:t> Again, be as brief as possible, use only relevant data.</a:t>
            </a:r>
          </a:p>
          <a:p>
            <a:pPr>
              <a:buClr>
                <a:srgbClr val="00CC00"/>
              </a:buClr>
              <a:buFont typeface="Wingdings" pitchFamily="2" charset="2"/>
              <a:buChar char="§"/>
            </a:pPr>
            <a:r>
              <a:rPr lang="en-US" sz="2800" dirty="0"/>
              <a:t> Use short but meaningful points.</a:t>
            </a:r>
          </a:p>
          <a:p>
            <a:pPr>
              <a:buClr>
                <a:srgbClr val="00CC00"/>
              </a:buClr>
              <a:buFont typeface="Wingdings" pitchFamily="2" charset="2"/>
              <a:buChar char="§"/>
            </a:pPr>
            <a:r>
              <a:rPr lang="en-US" sz="2800" dirty="0"/>
              <a:t> Explain every point briefly.</a:t>
            </a:r>
            <a:endParaRPr lang="en-US" sz="2800" b="1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6161494"/>
            <a:ext cx="914400" cy="544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B446A1-B411-1432-5F6D-208B1CAE3C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920" y="5994012"/>
            <a:ext cx="682752" cy="682752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B5A28237-8AD1-74A5-AD01-25236EDD3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6397823"/>
            <a:ext cx="41910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OKRP Conference 2025 </a:t>
            </a:r>
            <a:r>
              <a:rPr lang="en-US" sz="1400" i="1" dirty="0"/>
              <a:t>(13</a:t>
            </a:r>
            <a:r>
              <a:rPr lang="en-US" sz="1400" i="1" baseline="30000" dirty="0"/>
              <a:t>th</a:t>
            </a:r>
            <a:r>
              <a:rPr lang="en-US" sz="1400" i="1" dirty="0"/>
              <a:t> December 2025)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u="sng" dirty="0">
                <a:solidFill>
                  <a:schemeClr val="tx1"/>
                </a:solidFill>
              </a:rPr>
              <a:t>6-7.  Methods {OPTIONAL} (1-2 slide)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28600" y="3276600"/>
            <a:ext cx="8686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dirty="0"/>
              <a:t>Briefly summarize your method of literature (or content) analysis.</a:t>
            </a:r>
            <a:endParaRPr lang="en-US" sz="3200" b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6161494"/>
            <a:ext cx="914400" cy="544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B663CB-5B72-ED2C-1691-8364396C12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920" y="5994012"/>
            <a:ext cx="682752" cy="682752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B65352BE-5511-FD7D-921C-2027D24E9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6397823"/>
            <a:ext cx="41910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OKRP Conference 2025 </a:t>
            </a:r>
            <a:r>
              <a:rPr lang="en-US" sz="1400" i="1" dirty="0"/>
              <a:t>(13</a:t>
            </a:r>
            <a:r>
              <a:rPr lang="en-US" sz="1400" i="1" baseline="30000" dirty="0"/>
              <a:t>th</a:t>
            </a:r>
            <a:r>
              <a:rPr lang="en-US" sz="1400" i="1" dirty="0"/>
              <a:t> December 2025)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u="sng" dirty="0">
                <a:solidFill>
                  <a:schemeClr val="tx1"/>
                </a:solidFill>
              </a:rPr>
              <a:t>8-13.  Results &amp; Discussion (3-6 slides)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Clr>
                <a:srgbClr val="FA8C28"/>
              </a:buClr>
              <a:buFont typeface="Wingdings" pitchFamily="2" charset="2"/>
              <a:buChar char="§"/>
            </a:pPr>
            <a:r>
              <a:rPr lang="en-US" sz="2400" dirty="0"/>
              <a:t>The rest of the slides are for </a:t>
            </a:r>
            <a:r>
              <a:rPr lang="en-US" sz="2400" b="1" dirty="0"/>
              <a:t>Results</a:t>
            </a:r>
            <a:r>
              <a:rPr lang="en-US" sz="2400" dirty="0"/>
              <a:t> (hypotheses), </a:t>
            </a:r>
            <a:r>
              <a:rPr lang="en-US" sz="2400" b="1" dirty="0"/>
              <a:t>Discussion</a:t>
            </a:r>
            <a:r>
              <a:rPr lang="en-US" sz="2400" dirty="0"/>
              <a:t> &amp; </a:t>
            </a:r>
            <a:r>
              <a:rPr lang="en-US" sz="2400" b="1" dirty="0"/>
              <a:t>Conclusions</a:t>
            </a:r>
            <a:r>
              <a:rPr lang="en-US" sz="2400" dirty="0"/>
              <a:t>.</a:t>
            </a:r>
          </a:p>
          <a:p>
            <a:pPr>
              <a:buClr>
                <a:srgbClr val="FA8C28"/>
              </a:buClr>
              <a:buFont typeface="Wingdings" pitchFamily="2" charset="2"/>
              <a:buChar char="§"/>
            </a:pPr>
            <a:r>
              <a:rPr lang="en-US" sz="2400" dirty="0"/>
              <a:t> Start with a brief recap of descriptive statistics, if available. </a:t>
            </a:r>
          </a:p>
          <a:p>
            <a:pPr>
              <a:buClr>
                <a:srgbClr val="FA8C28"/>
              </a:buClr>
              <a:buFont typeface="Wingdings" pitchFamily="2" charset="2"/>
              <a:buChar char="§"/>
            </a:pPr>
            <a:r>
              <a:rPr lang="en-US" sz="2400" dirty="0"/>
              <a:t> Give your hypotheses with scientific proof to support them.</a:t>
            </a:r>
          </a:p>
          <a:p>
            <a:pPr>
              <a:buClr>
                <a:srgbClr val="FA8C28"/>
              </a:buClr>
              <a:buFont typeface="Wingdings" pitchFamily="2" charset="2"/>
              <a:buChar char="§"/>
            </a:pPr>
            <a:r>
              <a:rPr lang="en-US" sz="2400" dirty="0"/>
              <a:t> Discuss the practicality of each hypothesis if possible.</a:t>
            </a:r>
          </a:p>
          <a:p>
            <a:pPr>
              <a:buClr>
                <a:srgbClr val="FA8C28"/>
              </a:buClr>
              <a:buFont typeface="Wingdings" pitchFamily="2" charset="2"/>
              <a:buChar char="§"/>
            </a:pPr>
            <a:r>
              <a:rPr lang="en-US" sz="2400" dirty="0"/>
              <a:t> Be sure to tell the significance of your research and what should be done next regarding it.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6161494"/>
            <a:ext cx="914400" cy="544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1E62E7-FF56-E997-64D3-BB00CAA013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920" y="5994012"/>
            <a:ext cx="682752" cy="682752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64D28E12-03CC-94E7-6674-B776180AA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6397823"/>
            <a:ext cx="41910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OKRP Conference 2025 </a:t>
            </a:r>
            <a:r>
              <a:rPr lang="en-US" sz="1400" i="1" dirty="0"/>
              <a:t>(13</a:t>
            </a:r>
            <a:r>
              <a:rPr lang="en-US" sz="1400" i="1" baseline="30000" dirty="0"/>
              <a:t>th</a:t>
            </a:r>
            <a:r>
              <a:rPr lang="en-US" sz="1400" i="1" dirty="0"/>
              <a:t> December 2025)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u="sng" dirty="0">
                <a:solidFill>
                  <a:schemeClr val="tx1"/>
                </a:solidFill>
              </a:rPr>
              <a:t>14.  References (1 slide)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Clr>
                <a:srgbClr val="5FD1FF"/>
              </a:buClr>
              <a:buFont typeface="Wingdings" pitchFamily="2" charset="2"/>
              <a:buChar char="§"/>
            </a:pPr>
            <a:r>
              <a:rPr lang="en-US" sz="2800" dirty="0"/>
              <a:t>Mention the top five or six references for your paper preference-wise in points.</a:t>
            </a:r>
          </a:p>
          <a:p>
            <a:pPr>
              <a:buClr>
                <a:srgbClr val="5FD1FF"/>
              </a:buClr>
              <a:buFont typeface="Wingdings" pitchFamily="2" charset="2"/>
              <a:buChar char="§"/>
            </a:pPr>
            <a:r>
              <a:rPr lang="en-US" sz="2800" dirty="0"/>
              <a:t> Do not explain anything, just mention the references.</a:t>
            </a:r>
          </a:p>
          <a:p>
            <a:pPr>
              <a:buClr>
                <a:srgbClr val="5FD1FF"/>
              </a:buClr>
              <a:buFont typeface="Wingdings" pitchFamily="2" charset="2"/>
              <a:buChar char="§"/>
            </a:pPr>
            <a:r>
              <a:rPr lang="en-US" sz="2800" dirty="0"/>
              <a:t> Include books &amp; research papers, if any.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6161494"/>
            <a:ext cx="914400" cy="544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A0365C-1C5F-8882-EE0E-BE6B678B06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920" y="5994012"/>
            <a:ext cx="682752" cy="682752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D36B8A54-415C-045B-CBB6-652723E47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6397823"/>
            <a:ext cx="41910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OKRP Conference 2025 </a:t>
            </a:r>
            <a:r>
              <a:rPr lang="en-US" sz="1400" i="1" dirty="0"/>
              <a:t>(13</a:t>
            </a:r>
            <a:r>
              <a:rPr lang="en-US" sz="1400" i="1" baseline="30000" dirty="0"/>
              <a:t>th</a:t>
            </a:r>
            <a:r>
              <a:rPr lang="en-US" sz="1400" i="1" dirty="0"/>
              <a:t> December 2025)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>
                <a:solidFill>
                  <a:schemeClr val="tx1"/>
                </a:solidFill>
              </a:rPr>
              <a:t>15.  </a:t>
            </a:r>
            <a:r>
              <a:rPr lang="en-US" sz="3600" b="1" u="sng" dirty="0">
                <a:solidFill>
                  <a:schemeClr val="tx1"/>
                </a:solidFill>
              </a:rPr>
              <a:t>‘Thank You’ Slide (1 slide)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0" y="3962400"/>
            <a:ext cx="9144000" cy="1189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7200" b="1" u="sng">
                <a:solidFill>
                  <a:schemeClr val="accent1"/>
                </a:solidFill>
              </a:rPr>
              <a:t>Questions?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0" y="2697163"/>
            <a:ext cx="9144000" cy="1189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7200" b="1" u="sng" dirty="0">
                <a:solidFill>
                  <a:srgbClr val="40CAE6"/>
                </a:solidFill>
              </a:rPr>
              <a:t>THANK YOU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6161494"/>
            <a:ext cx="914400" cy="544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FEB61E-F139-FA29-5CBC-8638458186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920" y="5994012"/>
            <a:ext cx="682752" cy="682752"/>
          </a:xfrm>
          <a:prstGeom prst="rect">
            <a:avLst/>
          </a:prstGeom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76B7F798-98B3-1E12-AAF7-801BC396B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6397823"/>
            <a:ext cx="41910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400" b="1" dirty="0"/>
              <a:t>OKRP Conference 2025 </a:t>
            </a:r>
            <a:r>
              <a:rPr lang="en-US" sz="1400" i="1" dirty="0"/>
              <a:t>(13</a:t>
            </a:r>
            <a:r>
              <a:rPr lang="en-US" sz="1400" i="1" baseline="30000" dirty="0"/>
              <a:t>th</a:t>
            </a:r>
            <a:r>
              <a:rPr lang="en-US" sz="1400" i="1" dirty="0"/>
              <a:t> December 2025)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97</TotalTime>
  <Words>680</Words>
  <Application>Microsoft Office PowerPoint</Application>
  <PresentationFormat>On-screen Show (4:3)</PresentationFormat>
  <Paragraphs>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Georgia</vt:lpstr>
      <vt:lpstr>Palatino Linotype</vt:lpstr>
      <vt:lpstr>Wingdings</vt:lpstr>
      <vt:lpstr>Wingdings 2</vt:lpstr>
      <vt:lpstr>Civic</vt:lpstr>
      <vt:lpstr>PowerPoint Presentation</vt:lpstr>
      <vt:lpstr>PowerPoint Presentation</vt:lpstr>
      <vt:lpstr>Guidelines</vt:lpstr>
      <vt:lpstr>PowerPoint Presentation</vt:lpstr>
      <vt:lpstr>Text</vt:lpstr>
      <vt:lpstr>Slide Background &amp; Readability</vt:lpstr>
      <vt:lpstr> Graphs &amp; Figures</vt:lpstr>
      <vt:lpstr>PowerPoint Presentation</vt:lpstr>
      <vt:lpstr>1.  Title Slide (1 slide)</vt:lpstr>
      <vt:lpstr>2.  Introduction (1 slide)</vt:lpstr>
      <vt:lpstr>3-5.  Problem &amp; Theories (1-3 slides)</vt:lpstr>
      <vt:lpstr>6-7.  Methods {OPTIONAL} (1-2 slide)</vt:lpstr>
      <vt:lpstr>8-13.  Results &amp; Discussion (3-6 slides)</vt:lpstr>
      <vt:lpstr>14.  References (1 slide)</vt:lpstr>
      <vt:lpstr>15.  ‘Thank You’ Slide (1 slide)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Suramya</dc:creator>
  <cp:lastModifiedBy>Suramya Sharma Dahal</cp:lastModifiedBy>
  <cp:revision>17</cp:revision>
  <dcterms:created xsi:type="dcterms:W3CDTF">2006-08-16T00:00:00Z</dcterms:created>
  <dcterms:modified xsi:type="dcterms:W3CDTF">2025-12-03T07:00:02Z</dcterms:modified>
</cp:coreProperties>
</file>